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Light" charset="1" panose="00000400000000000000"/>
      <p:regular r:id="rId21"/>
    </p:embeddedFont>
    <p:embeddedFont>
      <p:font typeface="Montserrat Light Bold" charset="1" panose="00000800000000000000"/>
      <p:regular r:id="rId22"/>
    </p:embeddedFont>
    <p:embeddedFont>
      <p:font typeface="Glacial Indifference Bold" charset="1" panose="00000800000000000000"/>
      <p:regular r:id="rId23"/>
    </p:embeddedFont>
    <p:embeddedFont>
      <p:font typeface="Glacial Indifference"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sp>
        <p:nvSpPr>
          <p:cNvPr name="Freeform 4" id="4"/>
          <p:cNvSpPr/>
          <p:nvPr/>
        </p:nvSpPr>
        <p:spPr>
          <a:xfrm flipH="false" flipV="false" rot="0">
            <a:off x="1474000" y="197121"/>
            <a:ext cx="4491635" cy="1006559"/>
          </a:xfrm>
          <a:custGeom>
            <a:avLst/>
            <a:gdLst/>
            <a:ahLst/>
            <a:cxnLst/>
            <a:rect r="r" b="b" t="t" l="l"/>
            <a:pathLst>
              <a:path h="1006559" w="4491635">
                <a:moveTo>
                  <a:pt x="0" y="0"/>
                </a:moveTo>
                <a:lnTo>
                  <a:pt x="4491635" y="0"/>
                </a:lnTo>
                <a:lnTo>
                  <a:pt x="4491635" y="1006559"/>
                </a:lnTo>
                <a:lnTo>
                  <a:pt x="0" y="1006559"/>
                </a:lnTo>
                <a:lnTo>
                  <a:pt x="0" y="0"/>
                </a:lnTo>
                <a:close/>
              </a:path>
            </a:pathLst>
          </a:custGeom>
          <a:blipFill>
            <a:blip r:embed="rId4"/>
            <a:stretch>
              <a:fillRect l="0" t="0" r="0" b="0"/>
            </a:stretch>
          </a:blipFill>
        </p:spPr>
      </p:sp>
      <p:sp>
        <p:nvSpPr>
          <p:cNvPr name="Freeform 5" id="5"/>
          <p:cNvSpPr/>
          <p:nvPr/>
        </p:nvSpPr>
        <p:spPr>
          <a:xfrm flipH="false" flipV="false" rot="0">
            <a:off x="7962946" y="197121"/>
            <a:ext cx="2362107" cy="1156448"/>
          </a:xfrm>
          <a:custGeom>
            <a:avLst/>
            <a:gdLst/>
            <a:ahLst/>
            <a:cxnLst/>
            <a:rect r="r" b="b" t="t" l="l"/>
            <a:pathLst>
              <a:path h="1156448" w="2362107">
                <a:moveTo>
                  <a:pt x="0" y="0"/>
                </a:moveTo>
                <a:lnTo>
                  <a:pt x="2362108" y="0"/>
                </a:lnTo>
                <a:lnTo>
                  <a:pt x="2362108" y="1156448"/>
                </a:lnTo>
                <a:lnTo>
                  <a:pt x="0" y="1156448"/>
                </a:lnTo>
                <a:lnTo>
                  <a:pt x="0" y="0"/>
                </a:lnTo>
                <a:close/>
              </a:path>
            </a:pathLst>
          </a:custGeom>
          <a:blipFill>
            <a:blip r:embed="rId5"/>
            <a:stretch>
              <a:fillRect l="0" t="0" r="0" b="0"/>
            </a:stretch>
          </a:blipFill>
        </p:spPr>
      </p:sp>
      <p:sp>
        <p:nvSpPr>
          <p:cNvPr name="Freeform 6" id="6"/>
          <p:cNvSpPr/>
          <p:nvPr/>
        </p:nvSpPr>
        <p:spPr>
          <a:xfrm flipH="false" flipV="false" rot="0">
            <a:off x="15344547" y="197121"/>
            <a:ext cx="1878990" cy="1371547"/>
          </a:xfrm>
          <a:custGeom>
            <a:avLst/>
            <a:gdLst/>
            <a:ahLst/>
            <a:cxnLst/>
            <a:rect r="r" b="b" t="t" l="l"/>
            <a:pathLst>
              <a:path h="1371547" w="1878990">
                <a:moveTo>
                  <a:pt x="0" y="0"/>
                </a:moveTo>
                <a:lnTo>
                  <a:pt x="1878991" y="0"/>
                </a:lnTo>
                <a:lnTo>
                  <a:pt x="1878991" y="1371547"/>
                </a:lnTo>
                <a:lnTo>
                  <a:pt x="0" y="1371547"/>
                </a:lnTo>
                <a:lnTo>
                  <a:pt x="0" y="0"/>
                </a:lnTo>
                <a:close/>
              </a:path>
            </a:pathLst>
          </a:custGeom>
          <a:blipFill>
            <a:blip r:embed="rId6"/>
            <a:stretch>
              <a:fillRect l="0" t="0" r="0" b="-11976"/>
            </a:stretch>
          </a:blipFill>
        </p:spPr>
      </p:sp>
      <p:sp>
        <p:nvSpPr>
          <p:cNvPr name="TextBox 7" id="7"/>
          <p:cNvSpPr txBox="true"/>
          <p:nvPr/>
        </p:nvSpPr>
        <p:spPr>
          <a:xfrm rot="0">
            <a:off x="1542422" y="1393317"/>
            <a:ext cx="15203155" cy="8653392"/>
          </a:xfrm>
          <a:prstGeom prst="rect">
            <a:avLst/>
          </a:prstGeom>
        </p:spPr>
        <p:txBody>
          <a:bodyPr anchor="t" rtlCol="false" tIns="0" lIns="0" bIns="0" rIns="0">
            <a:spAutoFit/>
          </a:bodyPr>
          <a:lstStyle/>
          <a:p>
            <a:pPr algn="ctr">
              <a:lnSpc>
                <a:spcPts val="2525"/>
              </a:lnSpc>
            </a:pPr>
            <a:r>
              <a:rPr lang="en-US" sz="1829" spc="179">
                <a:solidFill>
                  <a:srgbClr val="000000"/>
                </a:solidFill>
                <a:latin typeface="Montserrat Light"/>
                <a:ea typeface="Montserrat Light"/>
                <a:cs typeface="Montserrat Light"/>
                <a:sym typeface="Montserrat Light"/>
              </a:rPr>
              <a:t> </a:t>
            </a:r>
            <a:r>
              <a:rPr lang="en-US" b="true" sz="1829" spc="179">
                <a:solidFill>
                  <a:srgbClr val="000000"/>
                </a:solidFill>
                <a:latin typeface="Montserrat Light Bold"/>
                <a:ea typeface="Montserrat Light Bold"/>
                <a:cs typeface="Montserrat Light Bold"/>
                <a:sym typeface="Montserrat Light Bold"/>
              </a:rPr>
              <a:t> Tecnológico Nacional de México</a:t>
            </a: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Instituto Tecnológico de Frontera Comalapa</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Carrera:</a:t>
            </a:r>
          </a:p>
          <a:p>
            <a:pPr algn="ctr">
              <a:lnSpc>
                <a:spcPts val="2525"/>
              </a:lnSpc>
            </a:pPr>
            <a:r>
              <a:rPr lang="en-US" sz="1829" spc="179">
                <a:solidFill>
                  <a:srgbClr val="000000"/>
                </a:solidFill>
                <a:latin typeface="Montserrat Light"/>
                <a:ea typeface="Montserrat Light"/>
                <a:cs typeface="Montserrat Light"/>
                <a:sym typeface="Montserrat Light"/>
              </a:rPr>
              <a:t>Ingeniería en Sistemas Computacionales</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Materia:</a:t>
            </a:r>
          </a:p>
          <a:p>
            <a:pPr algn="ctr">
              <a:lnSpc>
                <a:spcPts val="2525"/>
              </a:lnSpc>
            </a:pPr>
            <a:r>
              <a:rPr lang="en-US" sz="1829" spc="179">
                <a:solidFill>
                  <a:srgbClr val="000000"/>
                </a:solidFill>
                <a:latin typeface="Montserrat Light"/>
                <a:ea typeface="Montserrat Light"/>
                <a:cs typeface="Montserrat Light"/>
                <a:sym typeface="Montserrat Light"/>
              </a:rPr>
              <a:t>Programación Web</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Banco de ejercicios:</a:t>
            </a:r>
          </a:p>
          <a:p>
            <a:pPr algn="ctr">
              <a:lnSpc>
                <a:spcPts val="2525"/>
              </a:lnSpc>
            </a:pPr>
            <a:r>
              <a:rPr lang="en-US" sz="1829" spc="179">
                <a:solidFill>
                  <a:srgbClr val="000000"/>
                </a:solidFill>
                <a:latin typeface="Montserrat Light"/>
                <a:ea typeface="Montserrat Light"/>
                <a:cs typeface="Montserrat Light"/>
                <a:sym typeface="Montserrat Light"/>
              </a:rPr>
              <a:t>Pruebas de la funcionalidad para publicar productos</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Docente:</a:t>
            </a:r>
          </a:p>
          <a:p>
            <a:pPr algn="ctr">
              <a:lnSpc>
                <a:spcPts val="2525"/>
              </a:lnSpc>
            </a:pPr>
            <a:r>
              <a:rPr lang="en-US" sz="1829" spc="179">
                <a:solidFill>
                  <a:srgbClr val="000000"/>
                </a:solidFill>
                <a:latin typeface="Montserrat Light"/>
                <a:ea typeface="Montserrat Light"/>
                <a:cs typeface="Montserrat Light"/>
                <a:sym typeface="Montserrat Light"/>
              </a:rPr>
              <a:t>Ing. Francisco Javier Mingo Velázquez</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Estudiante:</a:t>
            </a:r>
          </a:p>
          <a:p>
            <a:pPr algn="ctr">
              <a:lnSpc>
                <a:spcPts val="2525"/>
              </a:lnSpc>
            </a:pPr>
            <a:r>
              <a:rPr lang="en-US" sz="1829" spc="179">
                <a:solidFill>
                  <a:srgbClr val="000000"/>
                </a:solidFill>
                <a:latin typeface="Montserrat Light"/>
                <a:ea typeface="Montserrat Light"/>
                <a:cs typeface="Montserrat Light"/>
                <a:sym typeface="Montserrat Light"/>
              </a:rPr>
              <a:t>Alan Eduardo Rodríguez Silvestre</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Número de control:</a:t>
            </a:r>
          </a:p>
          <a:p>
            <a:pPr algn="ctr">
              <a:lnSpc>
                <a:spcPts val="2525"/>
              </a:lnSpc>
            </a:pPr>
            <a:r>
              <a:rPr lang="en-US" sz="1829" spc="179">
                <a:solidFill>
                  <a:srgbClr val="000000"/>
                </a:solidFill>
                <a:latin typeface="Montserrat Light"/>
                <a:ea typeface="Montserrat Light"/>
                <a:cs typeface="Montserrat Light"/>
                <a:sym typeface="Montserrat Light"/>
              </a:rPr>
              <a:t>221260062</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Semestre: </a:t>
            </a:r>
          </a:p>
          <a:p>
            <a:pPr algn="ctr">
              <a:lnSpc>
                <a:spcPts val="2525"/>
              </a:lnSpc>
            </a:pPr>
            <a:r>
              <a:rPr lang="en-US" sz="1829" spc="179">
                <a:solidFill>
                  <a:srgbClr val="000000"/>
                </a:solidFill>
                <a:latin typeface="Montserrat Light"/>
                <a:ea typeface="Montserrat Light"/>
                <a:cs typeface="Montserrat Light"/>
                <a:sym typeface="Montserrat Light"/>
              </a:rPr>
              <a:t>8</a:t>
            </a:r>
            <a:r>
              <a:rPr lang="en-US" sz="1829" spc="179">
                <a:solidFill>
                  <a:srgbClr val="000000"/>
                </a:solidFill>
                <a:latin typeface="Montserrat Light"/>
                <a:ea typeface="Montserrat Light"/>
                <a:cs typeface="Montserrat Light"/>
                <a:sym typeface="Montserrat Light"/>
              </a:rPr>
              <a:t>°</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Fecha de entrega: </a:t>
            </a:r>
          </a:p>
          <a:p>
            <a:pPr algn="ctr">
              <a:lnSpc>
                <a:spcPts val="2525"/>
              </a:lnSpc>
            </a:pPr>
            <a:r>
              <a:rPr lang="en-US" sz="1829" spc="179">
                <a:solidFill>
                  <a:srgbClr val="000000"/>
                </a:solidFill>
                <a:latin typeface="Montserrat Light"/>
                <a:ea typeface="Montserrat Light"/>
                <a:cs typeface="Montserrat Light"/>
                <a:sym typeface="Montserrat Light"/>
              </a:rPr>
              <a:t>09</a:t>
            </a:r>
            <a:r>
              <a:rPr lang="en-US" sz="1829" spc="179">
                <a:solidFill>
                  <a:srgbClr val="000000"/>
                </a:solidFill>
                <a:latin typeface="Montserrat Light"/>
                <a:ea typeface="Montserrat Light"/>
                <a:cs typeface="Montserrat Light"/>
                <a:sym typeface="Montserrat Light"/>
              </a:rPr>
              <a:t> de junio del 2026</a:t>
            </a:r>
          </a:p>
          <a:p>
            <a:pPr algn="l">
              <a:lnSpc>
                <a:spcPts val="2658"/>
              </a:lnSpc>
            </a:pPr>
          </a:p>
        </p:txBody>
      </p:sp>
      <p:grpSp>
        <p:nvGrpSpPr>
          <p:cNvPr name="Group 8" id="8"/>
          <p:cNvGrpSpPr/>
          <p:nvPr/>
        </p:nvGrpSpPr>
        <p:grpSpPr>
          <a:xfrm rot="0">
            <a:off x="17259300" y="9258300"/>
            <a:ext cx="525494" cy="520700"/>
            <a:chOff x="0" y="0"/>
            <a:chExt cx="700659" cy="694267"/>
          </a:xfrm>
        </p:grpSpPr>
        <p:grpSp>
          <p:nvGrpSpPr>
            <p:cNvPr name="Group 9" id="9"/>
            <p:cNvGrpSpPr/>
            <p:nvPr/>
          </p:nvGrpSpPr>
          <p:grpSpPr>
            <a:xfrm rot="0">
              <a:off x="0" y="0"/>
              <a:ext cx="700659" cy="694267"/>
              <a:chOff x="0" y="0"/>
              <a:chExt cx="138402" cy="137139"/>
            </a:xfrm>
          </p:grpSpPr>
          <p:sp>
            <p:nvSpPr>
              <p:cNvPr name="Freeform 10" id="10"/>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11" id="11"/>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12" id="12"/>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sp>
        <p:nvSpPr>
          <p:cNvPr name="TextBox 4" id="4"/>
          <p:cNvSpPr txBox="true"/>
          <p:nvPr/>
        </p:nvSpPr>
        <p:spPr>
          <a:xfrm rot="0">
            <a:off x="1028700" y="1294502"/>
            <a:ext cx="16230600" cy="7863840"/>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En la práctica anterior, llevé a cabo la implementación de la funcionalidad para publicar productos dentro del proyecto Local Market, con la finalidad de permitir que los vendedores puedan registrar nuevos productos en la plataforma. </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Para comprobar que esta función se implementó de manera correcta, a través de esta actividad lleve a cabo la realización de algunas pruebas, las cuales consistieron en publicar un producto, verificar si la información del producto se guarda en Supabase y finalmente validar que el producto se refleja en el catalogo de productos.</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Por lo cual, se presentan a continuación las capturas de pantalla de los pruebas realizadas, así como los resultados obtenidos. Estas evidencias permitirán demostrar el funcionamiento de la publicación de productos y al mismo tiempo la importancia que tiene dentro de la aplicación.</a:t>
            </a:r>
          </a:p>
        </p:txBody>
      </p:sp>
      <p:sp>
        <p:nvSpPr>
          <p:cNvPr name="TextBox 5" id="5"/>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INTRODUCCION</a:t>
            </a:r>
          </a:p>
        </p:txBody>
      </p:sp>
      <p:grpSp>
        <p:nvGrpSpPr>
          <p:cNvPr name="Group 6" id="6"/>
          <p:cNvGrpSpPr/>
          <p:nvPr/>
        </p:nvGrpSpPr>
        <p:grpSpPr>
          <a:xfrm rot="0">
            <a:off x="17259300" y="9258300"/>
            <a:ext cx="525494" cy="520700"/>
            <a:chOff x="0" y="0"/>
            <a:chExt cx="700659" cy="694267"/>
          </a:xfrm>
        </p:grpSpPr>
        <p:grpSp>
          <p:nvGrpSpPr>
            <p:cNvPr name="Group 7" id="7"/>
            <p:cNvGrpSpPr/>
            <p:nvPr/>
          </p:nvGrpSpPr>
          <p:grpSpPr>
            <a:xfrm rot="0">
              <a:off x="0" y="0"/>
              <a:ext cx="700659" cy="694267"/>
              <a:chOff x="0" y="0"/>
              <a:chExt cx="138402" cy="137139"/>
            </a:xfrm>
          </p:grpSpPr>
          <p:sp>
            <p:nvSpPr>
              <p:cNvPr name="Freeform 8" id="8"/>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9" id="9"/>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10" id="10"/>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sp>
        <p:nvSpPr>
          <p:cNvPr name="TextBox 4" id="4"/>
          <p:cNvSpPr txBox="true"/>
          <p:nvPr/>
        </p:nvSpPr>
        <p:spPr>
          <a:xfrm rot="0">
            <a:off x="1028700" y="1306497"/>
            <a:ext cx="16230600" cy="5615940"/>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Considero que esta actividad es de gran importancia, ya que a través de las pruebas realizadas podremos comprobar si la funcionalidad para publicar productos dentro de la aplicación web “Local Market” funciona correctamente. </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Esta función es una parte fundamental del proyecto, debido a que permite que los vendedores puedan agregar sus productos a la plataforma de manera más práctica y organizada.</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Sin esta funcionalidad, el sistema estaría limitado, ya que no sería posible que los vendedores registraran nuevos productos por sí mismos.</a:t>
            </a:r>
          </a:p>
        </p:txBody>
      </p:sp>
      <p:sp>
        <p:nvSpPr>
          <p:cNvPr name="TextBox 5" id="5"/>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JUSTIFICACION</a:t>
            </a:r>
          </a:p>
        </p:txBody>
      </p:sp>
      <p:grpSp>
        <p:nvGrpSpPr>
          <p:cNvPr name="Group 6" id="6"/>
          <p:cNvGrpSpPr/>
          <p:nvPr/>
        </p:nvGrpSpPr>
        <p:grpSpPr>
          <a:xfrm rot="0">
            <a:off x="17259300" y="9258300"/>
            <a:ext cx="525494" cy="520700"/>
            <a:chOff x="0" y="0"/>
            <a:chExt cx="700659" cy="694267"/>
          </a:xfrm>
        </p:grpSpPr>
        <p:grpSp>
          <p:nvGrpSpPr>
            <p:cNvPr name="Group 7" id="7"/>
            <p:cNvGrpSpPr/>
            <p:nvPr/>
          </p:nvGrpSpPr>
          <p:grpSpPr>
            <a:xfrm rot="0">
              <a:off x="0" y="0"/>
              <a:ext cx="700659" cy="694267"/>
              <a:chOff x="0" y="0"/>
              <a:chExt cx="138402" cy="137139"/>
            </a:xfrm>
          </p:grpSpPr>
          <p:sp>
            <p:nvSpPr>
              <p:cNvPr name="Freeform 8" id="8"/>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9" id="9"/>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10" id="10"/>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4</a:t>
              </a:r>
            </a:p>
          </p:txBody>
        </p:sp>
      </p:grpSp>
      <p:sp>
        <p:nvSpPr>
          <p:cNvPr name="TextBox 9" id="9"/>
          <p:cNvSpPr txBox="true"/>
          <p:nvPr/>
        </p:nvSpPr>
        <p:spPr>
          <a:xfrm rot="0">
            <a:off x="2627837" y="2832099"/>
            <a:ext cx="13032326" cy="4460878"/>
          </a:xfrm>
          <a:prstGeom prst="rect">
            <a:avLst/>
          </a:prstGeom>
        </p:spPr>
        <p:txBody>
          <a:bodyPr anchor="t" rtlCol="false" tIns="0" lIns="0" bIns="0" rIns="0">
            <a:spAutoFit/>
          </a:bodyPr>
          <a:lstStyle/>
          <a:p>
            <a:pPr algn="ctr">
              <a:lnSpc>
                <a:spcPts val="11899"/>
              </a:lnSpc>
            </a:pPr>
            <a:r>
              <a:rPr lang="en-US" b="true" sz="8499">
                <a:solidFill>
                  <a:srgbClr val="000000"/>
                </a:solidFill>
                <a:latin typeface="Glacial Indifference Bold"/>
                <a:ea typeface="Glacial Indifference Bold"/>
                <a:cs typeface="Glacial Indifference Bold"/>
                <a:sym typeface="Glacial Indifference Bold"/>
              </a:rPr>
              <a:t>PRUEBAS DE LA FUNCIONALIDAD PARA PUBLICAR PRODUCTOS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5</a:t>
              </a:r>
            </a:p>
          </p:txBody>
        </p:sp>
      </p:grpSp>
      <p:sp>
        <p:nvSpPr>
          <p:cNvPr name="Freeform 9" id="9"/>
          <p:cNvSpPr/>
          <p:nvPr/>
        </p:nvSpPr>
        <p:spPr>
          <a:xfrm flipH="false" flipV="false" rot="0">
            <a:off x="3596558" y="2834274"/>
            <a:ext cx="12346180" cy="6944726"/>
          </a:xfrm>
          <a:custGeom>
            <a:avLst/>
            <a:gdLst/>
            <a:ahLst/>
            <a:cxnLst/>
            <a:rect r="r" b="b" t="t" l="l"/>
            <a:pathLst>
              <a:path h="6944726" w="12346180">
                <a:moveTo>
                  <a:pt x="0" y="0"/>
                </a:moveTo>
                <a:lnTo>
                  <a:pt x="12346180" y="0"/>
                </a:lnTo>
                <a:lnTo>
                  <a:pt x="12346180" y="6944726"/>
                </a:lnTo>
                <a:lnTo>
                  <a:pt x="0" y="6944726"/>
                </a:lnTo>
                <a:lnTo>
                  <a:pt x="0" y="0"/>
                </a:lnTo>
                <a:close/>
              </a:path>
            </a:pathLst>
          </a:custGeom>
          <a:blipFill>
            <a:blip r:embed="rId4"/>
            <a:stretch>
              <a:fillRect l="0" t="0" r="0" b="0"/>
            </a:stretch>
          </a:blipFill>
        </p:spPr>
      </p:sp>
      <p:sp>
        <p:nvSpPr>
          <p:cNvPr name="TextBox 10" id="10"/>
          <p:cNvSpPr txBox="true"/>
          <p:nvPr/>
        </p:nvSpPr>
        <p:spPr>
          <a:xfrm rot="0">
            <a:off x="1028700" y="1178829"/>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Para comprobar si la funcionalidad para publicar productos se implementó de forma correcta en mi aplicación web </a:t>
            </a:r>
            <a:r>
              <a:rPr lang="en-US" b="true" sz="2800">
                <a:solidFill>
                  <a:srgbClr val="000000"/>
                </a:solidFill>
                <a:latin typeface="Glacial Indifference Bold"/>
                <a:ea typeface="Glacial Indifference Bold"/>
                <a:cs typeface="Glacial Indifference Bold"/>
                <a:sym typeface="Glacial Indifference Bold"/>
              </a:rPr>
              <a:t>“Local Market”</a:t>
            </a:r>
            <a:r>
              <a:rPr lang="en-US" sz="2800">
                <a:solidFill>
                  <a:srgbClr val="000000"/>
                </a:solidFill>
                <a:latin typeface="Glacial Indifference"/>
                <a:ea typeface="Glacial Indifference"/>
                <a:cs typeface="Glacial Indifference"/>
                <a:sym typeface="Glacial Indifference"/>
              </a:rPr>
              <a:t>, realice algunas pruebas, para ello comencé iniciando sesión como vendedor, en este caso, accedí con el correo y contraseña del usuario </a:t>
            </a:r>
            <a:r>
              <a:rPr lang="en-US" b="true" sz="2800">
                <a:solidFill>
                  <a:srgbClr val="000000"/>
                </a:solidFill>
                <a:latin typeface="Glacial Indifference Bold"/>
                <a:ea typeface="Glacial Indifference Bold"/>
                <a:cs typeface="Glacial Indifference Bold"/>
                <a:sym typeface="Glacial Indifference Bold"/>
              </a:rPr>
              <a:t>“Reynaldo Morales”</a:t>
            </a:r>
            <a:r>
              <a:rPr lang="en-US" sz="2800">
                <a:solidFill>
                  <a:srgbClr val="000000"/>
                </a:solidFill>
                <a:latin typeface="Glacial Indifference"/>
                <a:ea typeface="Glacial Indifference"/>
                <a:cs typeface="Glacial Indifference"/>
                <a:sym typeface="Glacial Indifference"/>
              </a:rPr>
              <a:t>.</a:t>
            </a:r>
          </a:p>
        </p:txBody>
      </p:sp>
      <p:sp>
        <p:nvSpPr>
          <p:cNvPr name="TextBox 11" id="11"/>
          <p:cNvSpPr txBox="true"/>
          <p:nvPr/>
        </p:nvSpPr>
        <p:spPr>
          <a:xfrm rot="0">
            <a:off x="688925" y="306704"/>
            <a:ext cx="16910150" cy="721996"/>
          </a:xfrm>
          <a:prstGeom prst="rect">
            <a:avLst/>
          </a:prstGeom>
        </p:spPr>
        <p:txBody>
          <a:bodyPr anchor="t" rtlCol="false" tIns="0" lIns="0" bIns="0" rIns="0">
            <a:spAutoFit/>
          </a:bodyPr>
          <a:lstStyle/>
          <a:p>
            <a:pPr algn="ctr">
              <a:lnSpc>
                <a:spcPts val="5879"/>
              </a:lnSpc>
            </a:pPr>
            <a:r>
              <a:rPr lang="en-US" b="true" sz="4199">
                <a:solidFill>
                  <a:srgbClr val="000000"/>
                </a:solidFill>
                <a:latin typeface="Glacial Indifference Bold"/>
                <a:ea typeface="Glacial Indifference Bold"/>
                <a:cs typeface="Glacial Indifference Bold"/>
                <a:sym typeface="Glacial Indifference Bold"/>
              </a:rPr>
              <a:t>PRUEBAS DE LA FUNCIONALIDAD PARA PUBLICAR PRODUCTOS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6</a:t>
              </a:r>
            </a:p>
          </p:txBody>
        </p:sp>
      </p:grpSp>
      <p:sp>
        <p:nvSpPr>
          <p:cNvPr name="TextBox 9" id="9"/>
          <p:cNvSpPr txBox="true"/>
          <p:nvPr/>
        </p:nvSpPr>
        <p:spPr>
          <a:xfrm rot="0">
            <a:off x="1028700" y="62103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me apareció el catalogo de productos, donde seleccione el perfil del usuario ubicado en la esquina superior derecha y después seleccione </a:t>
            </a:r>
            <a:r>
              <a:rPr lang="en-US" b="true" sz="2800">
                <a:solidFill>
                  <a:srgbClr val="000000"/>
                </a:solidFill>
                <a:latin typeface="Glacial Indifference Bold"/>
                <a:ea typeface="Glacial Indifference Bold"/>
                <a:cs typeface="Glacial Indifference Bold"/>
                <a:sym typeface="Glacial Indifference Bold"/>
              </a:rPr>
              <a:t>“Panel vendedor”</a:t>
            </a:r>
            <a:r>
              <a:rPr lang="en-US" sz="2800">
                <a:solidFill>
                  <a:srgbClr val="000000"/>
                </a:solidFill>
                <a:latin typeface="Glacial Indifference"/>
                <a:ea typeface="Glacial Indifference"/>
                <a:cs typeface="Glacial Indifference"/>
                <a:sym typeface="Glacial Indifference"/>
              </a:rPr>
              <a:t>.</a:t>
            </a:r>
          </a:p>
        </p:txBody>
      </p:sp>
      <p:grpSp>
        <p:nvGrpSpPr>
          <p:cNvPr name="Group 10" id="10"/>
          <p:cNvGrpSpPr/>
          <p:nvPr/>
        </p:nvGrpSpPr>
        <p:grpSpPr>
          <a:xfrm rot="0">
            <a:off x="2096722" y="1850813"/>
            <a:ext cx="14094555" cy="7928187"/>
            <a:chOff x="0" y="0"/>
            <a:chExt cx="18792740" cy="10570916"/>
          </a:xfrm>
        </p:grpSpPr>
        <p:sp>
          <p:nvSpPr>
            <p:cNvPr name="Freeform 11" id="11"/>
            <p:cNvSpPr/>
            <p:nvPr/>
          </p:nvSpPr>
          <p:spPr>
            <a:xfrm flipH="false" flipV="false" rot="0">
              <a:off x="0" y="0"/>
              <a:ext cx="18792740" cy="10570916"/>
            </a:xfrm>
            <a:custGeom>
              <a:avLst/>
              <a:gdLst/>
              <a:ahLst/>
              <a:cxnLst/>
              <a:rect r="r" b="b" t="t" l="l"/>
              <a:pathLst>
                <a:path h="10570916" w="18792740">
                  <a:moveTo>
                    <a:pt x="0" y="0"/>
                  </a:moveTo>
                  <a:lnTo>
                    <a:pt x="18792740" y="0"/>
                  </a:lnTo>
                  <a:lnTo>
                    <a:pt x="18792740" y="10570916"/>
                  </a:lnTo>
                  <a:lnTo>
                    <a:pt x="0" y="10570916"/>
                  </a:lnTo>
                  <a:lnTo>
                    <a:pt x="0" y="0"/>
                  </a:lnTo>
                  <a:close/>
                </a:path>
              </a:pathLst>
            </a:custGeom>
            <a:blipFill>
              <a:blip r:embed="rId4"/>
              <a:stretch>
                <a:fillRect l="0" t="0" r="0" b="0"/>
              </a:stretch>
            </a:blipFill>
          </p:spPr>
        </p:sp>
        <p:sp>
          <p:nvSpPr>
            <p:cNvPr name="Freeform 12" id="12"/>
            <p:cNvSpPr/>
            <p:nvPr/>
          </p:nvSpPr>
          <p:spPr>
            <a:xfrm flipH="false" flipV="false" rot="0">
              <a:off x="6256405" y="6970860"/>
              <a:ext cx="6355080" cy="3049176"/>
            </a:xfrm>
            <a:custGeom>
              <a:avLst/>
              <a:gdLst/>
              <a:ahLst/>
              <a:cxnLst/>
              <a:rect r="r" b="b" t="t" l="l"/>
              <a:pathLst>
                <a:path h="3049176" w="6355080">
                  <a:moveTo>
                    <a:pt x="0" y="0"/>
                  </a:moveTo>
                  <a:lnTo>
                    <a:pt x="6355080" y="0"/>
                  </a:lnTo>
                  <a:lnTo>
                    <a:pt x="6355080" y="3049176"/>
                  </a:lnTo>
                  <a:lnTo>
                    <a:pt x="0" y="3049176"/>
                  </a:lnTo>
                  <a:lnTo>
                    <a:pt x="0" y="0"/>
                  </a:lnTo>
                  <a:close/>
                </a:path>
              </a:pathLst>
            </a:custGeom>
            <a:blipFill>
              <a:blip r:embed="rId4"/>
              <a:stretch>
                <a:fillRect l="-190737" t="-228632" r="-4974" b="-18048"/>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7</a:t>
              </a:r>
            </a:p>
          </p:txBody>
        </p:sp>
      </p:grpSp>
      <p:sp>
        <p:nvSpPr>
          <p:cNvPr name="Freeform 9" id="9"/>
          <p:cNvSpPr/>
          <p:nvPr/>
        </p:nvSpPr>
        <p:spPr>
          <a:xfrm flipH="false" flipV="false" rot="0">
            <a:off x="2530887" y="2339248"/>
            <a:ext cx="13226225" cy="7439752"/>
          </a:xfrm>
          <a:custGeom>
            <a:avLst/>
            <a:gdLst/>
            <a:ahLst/>
            <a:cxnLst/>
            <a:rect r="r" b="b" t="t" l="l"/>
            <a:pathLst>
              <a:path h="7439752" w="13226225">
                <a:moveTo>
                  <a:pt x="0" y="0"/>
                </a:moveTo>
                <a:lnTo>
                  <a:pt x="13226226" y="0"/>
                </a:lnTo>
                <a:lnTo>
                  <a:pt x="13226226" y="7439752"/>
                </a:lnTo>
                <a:lnTo>
                  <a:pt x="0" y="7439752"/>
                </a:lnTo>
                <a:lnTo>
                  <a:pt x="0" y="0"/>
                </a:lnTo>
                <a:close/>
              </a:path>
            </a:pathLst>
          </a:custGeom>
          <a:blipFill>
            <a:blip r:embed="rId4"/>
            <a:stretch>
              <a:fillRect l="0" t="0" r="0" b="0"/>
            </a:stretch>
          </a:blipFill>
        </p:spPr>
      </p:sp>
      <p:sp>
        <p:nvSpPr>
          <p:cNvPr name="TextBox 10" id="10"/>
          <p:cNvSpPr txBox="true"/>
          <p:nvPr/>
        </p:nvSpPr>
        <p:spPr>
          <a:xfrm rot="0">
            <a:off x="1028700" y="62103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Después de eso, me apareció el panel del vendedor, por lo cual procedí a agregar un producto  nuevo, en este caso  agregue los datos de un juego de sillones, para ello rellene todos los campos correspondientes tales como el nombre del producto, el precio, la categoría, la descripción y una imagen del producto.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8</a:t>
              </a:r>
            </a:p>
          </p:txBody>
        </p:sp>
      </p:grpSp>
      <p:sp>
        <p:nvSpPr>
          <p:cNvPr name="Freeform 9" id="9"/>
          <p:cNvSpPr/>
          <p:nvPr/>
        </p:nvSpPr>
        <p:spPr>
          <a:xfrm flipH="false" flipV="false" rot="0">
            <a:off x="2152177" y="1913200"/>
            <a:ext cx="13983645" cy="7865800"/>
          </a:xfrm>
          <a:custGeom>
            <a:avLst/>
            <a:gdLst/>
            <a:ahLst/>
            <a:cxnLst/>
            <a:rect r="r" b="b" t="t" l="l"/>
            <a:pathLst>
              <a:path h="7865800" w="13983645">
                <a:moveTo>
                  <a:pt x="0" y="0"/>
                </a:moveTo>
                <a:lnTo>
                  <a:pt x="13983646" y="0"/>
                </a:lnTo>
                <a:lnTo>
                  <a:pt x="13983646" y="7865800"/>
                </a:lnTo>
                <a:lnTo>
                  <a:pt x="0" y="7865800"/>
                </a:lnTo>
                <a:lnTo>
                  <a:pt x="0" y="0"/>
                </a:lnTo>
                <a:close/>
              </a:path>
            </a:pathLst>
          </a:custGeom>
          <a:blipFill>
            <a:blip r:embed="rId4"/>
            <a:stretch>
              <a:fillRect l="0" t="0" r="0" b="0"/>
            </a:stretch>
          </a:blipFill>
        </p:spPr>
      </p:sp>
      <p:sp>
        <p:nvSpPr>
          <p:cNvPr name="TextBox 10" id="10"/>
          <p:cNvSpPr txBox="true"/>
          <p:nvPr/>
        </p:nvSpPr>
        <p:spPr>
          <a:xfrm rot="0">
            <a:off x="1028700" y="62103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Habiendo agregado los datos de dicho producto, procedí a publicar el producto, para ello presione el botón “</a:t>
            </a:r>
            <a:r>
              <a:rPr lang="en-US" b="true" sz="2800">
                <a:solidFill>
                  <a:srgbClr val="000000"/>
                </a:solidFill>
                <a:latin typeface="Glacial Indifference Bold"/>
                <a:ea typeface="Glacial Indifference Bold"/>
                <a:cs typeface="Glacial Indifference Bold"/>
                <a:sym typeface="Glacial Indifference Bold"/>
              </a:rPr>
              <a:t>Publicar producto”</a:t>
            </a:r>
            <a:r>
              <a:rPr lang="en-US" sz="2800">
                <a:solidFill>
                  <a:srgbClr val="000000"/>
                </a:solidFill>
                <a:latin typeface="Glacial Indifference"/>
                <a:ea typeface="Glacial Indifference"/>
                <a:cs typeface="Glacial Indifference"/>
                <a:sym typeface="Glacial Indifference"/>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9</a:t>
              </a:r>
            </a:p>
          </p:txBody>
        </p:sp>
      </p:grpSp>
      <p:sp>
        <p:nvSpPr>
          <p:cNvPr name="Freeform 9" id="9"/>
          <p:cNvSpPr/>
          <p:nvPr/>
        </p:nvSpPr>
        <p:spPr>
          <a:xfrm flipH="false" flipV="false" rot="0">
            <a:off x="2491730" y="2295196"/>
            <a:ext cx="13304540" cy="7483804"/>
          </a:xfrm>
          <a:custGeom>
            <a:avLst/>
            <a:gdLst/>
            <a:ahLst/>
            <a:cxnLst/>
            <a:rect r="r" b="b" t="t" l="l"/>
            <a:pathLst>
              <a:path h="7483804" w="13304540">
                <a:moveTo>
                  <a:pt x="0" y="0"/>
                </a:moveTo>
                <a:lnTo>
                  <a:pt x="13304540" y="0"/>
                </a:lnTo>
                <a:lnTo>
                  <a:pt x="13304540" y="7483804"/>
                </a:lnTo>
                <a:lnTo>
                  <a:pt x="0" y="7483804"/>
                </a:lnTo>
                <a:lnTo>
                  <a:pt x="0" y="0"/>
                </a:lnTo>
                <a:close/>
              </a:path>
            </a:pathLst>
          </a:custGeom>
          <a:blipFill>
            <a:blip r:embed="rId4"/>
            <a:stretch>
              <a:fillRect l="0" t="0" r="0" b="0"/>
            </a:stretch>
          </a:blipFill>
        </p:spPr>
      </p:sp>
      <p:sp>
        <p:nvSpPr>
          <p:cNvPr name="TextBox 10" id="10"/>
          <p:cNvSpPr txBox="true"/>
          <p:nvPr/>
        </p:nvSpPr>
        <p:spPr>
          <a:xfrm rot="0">
            <a:off x="1028700" y="62103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pude comprobar que la funcionalidad para publicar productos se implementó correctamente ya que en la tabla de </a:t>
            </a:r>
            <a:r>
              <a:rPr lang="en-US" b="true" sz="2800">
                <a:solidFill>
                  <a:srgbClr val="000000"/>
                </a:solidFill>
                <a:latin typeface="Glacial Indifference Bold"/>
                <a:ea typeface="Glacial Indifference Bold"/>
                <a:cs typeface="Glacial Indifference Bold"/>
                <a:sym typeface="Glacial Indifference Bold"/>
              </a:rPr>
              <a:t>“Mis productos”</a:t>
            </a:r>
            <a:r>
              <a:rPr lang="en-US" sz="2800">
                <a:solidFill>
                  <a:srgbClr val="000000"/>
                </a:solidFill>
                <a:latin typeface="Glacial Indifference"/>
                <a:ea typeface="Glacial Indifference"/>
                <a:cs typeface="Glacial Indifference"/>
                <a:sym typeface="Glacial Indifference"/>
              </a:rPr>
              <a:t> me apareció el producto publicado, sus datos correspondientes y la opciones para editar o eliminar el producto.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10</a:t>
              </a:r>
            </a:p>
          </p:txBody>
        </p:sp>
      </p:grpSp>
      <p:sp>
        <p:nvSpPr>
          <p:cNvPr name="Freeform 9" id="9"/>
          <p:cNvSpPr/>
          <p:nvPr/>
        </p:nvSpPr>
        <p:spPr>
          <a:xfrm flipH="false" flipV="false" rot="0">
            <a:off x="1788075" y="1492869"/>
            <a:ext cx="14730900" cy="8286131"/>
          </a:xfrm>
          <a:custGeom>
            <a:avLst/>
            <a:gdLst/>
            <a:ahLst/>
            <a:cxnLst/>
            <a:rect r="r" b="b" t="t" l="l"/>
            <a:pathLst>
              <a:path h="8286131" w="14730900">
                <a:moveTo>
                  <a:pt x="0" y="0"/>
                </a:moveTo>
                <a:lnTo>
                  <a:pt x="14730900" y="0"/>
                </a:lnTo>
                <a:lnTo>
                  <a:pt x="14730900" y="8286131"/>
                </a:lnTo>
                <a:lnTo>
                  <a:pt x="0" y="8286131"/>
                </a:lnTo>
                <a:lnTo>
                  <a:pt x="0" y="0"/>
                </a:lnTo>
                <a:close/>
              </a:path>
            </a:pathLst>
          </a:custGeom>
          <a:blipFill>
            <a:blip r:embed="rId4"/>
            <a:stretch>
              <a:fillRect l="0" t="0" r="0" b="0"/>
            </a:stretch>
          </a:blipFill>
        </p:spPr>
      </p:sp>
      <p:sp>
        <p:nvSpPr>
          <p:cNvPr name="TextBox 10" id="10"/>
          <p:cNvSpPr txBox="true"/>
          <p:nvPr/>
        </p:nvSpPr>
        <p:spPr>
          <a:xfrm rot="0">
            <a:off x="1028700" y="621030"/>
            <a:ext cx="16230600" cy="4394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Así mismo, al verificar el catalogo de productos también me apareció el producto publicado.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11</a:t>
              </a:r>
            </a:p>
          </p:txBody>
        </p:sp>
      </p:grpSp>
      <p:sp>
        <p:nvSpPr>
          <p:cNvPr name="Freeform 9" id="9"/>
          <p:cNvSpPr/>
          <p:nvPr/>
        </p:nvSpPr>
        <p:spPr>
          <a:xfrm flipH="false" flipV="false" rot="0">
            <a:off x="2491730" y="2295196"/>
            <a:ext cx="13304540" cy="7483804"/>
          </a:xfrm>
          <a:custGeom>
            <a:avLst/>
            <a:gdLst/>
            <a:ahLst/>
            <a:cxnLst/>
            <a:rect r="r" b="b" t="t" l="l"/>
            <a:pathLst>
              <a:path h="7483804" w="13304540">
                <a:moveTo>
                  <a:pt x="0" y="0"/>
                </a:moveTo>
                <a:lnTo>
                  <a:pt x="13304540" y="0"/>
                </a:lnTo>
                <a:lnTo>
                  <a:pt x="13304540" y="7483804"/>
                </a:lnTo>
                <a:lnTo>
                  <a:pt x="0" y="7483804"/>
                </a:lnTo>
                <a:lnTo>
                  <a:pt x="0" y="0"/>
                </a:lnTo>
                <a:close/>
              </a:path>
            </a:pathLst>
          </a:custGeom>
          <a:blipFill>
            <a:blip r:embed="rId4"/>
            <a:stretch>
              <a:fillRect l="0" t="0" r="0" b="0"/>
            </a:stretch>
          </a:blipFill>
        </p:spPr>
      </p:sp>
      <p:sp>
        <p:nvSpPr>
          <p:cNvPr name="TextBox 10" id="10"/>
          <p:cNvSpPr txBox="true"/>
          <p:nvPr/>
        </p:nvSpPr>
        <p:spPr>
          <a:xfrm rot="0">
            <a:off x="1028700" y="62103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Posteriormente, procedí a verificar si los datos se guardaron de forma correcta en Supabase, para ello accedi primeramente a la tabla de </a:t>
            </a:r>
            <a:r>
              <a:rPr lang="en-US" b="true" sz="2800">
                <a:solidFill>
                  <a:srgbClr val="000000"/>
                </a:solidFill>
                <a:latin typeface="Glacial Indifference Bold"/>
                <a:ea typeface="Glacial Indifference Bold"/>
                <a:cs typeface="Glacial Indifference Bold"/>
                <a:sym typeface="Glacial Indifference Bold"/>
              </a:rPr>
              <a:t>“Productos”</a:t>
            </a:r>
            <a:r>
              <a:rPr lang="en-US" sz="2800">
                <a:solidFill>
                  <a:srgbClr val="000000"/>
                </a:solidFill>
                <a:latin typeface="Glacial Indifference"/>
                <a:ea typeface="Glacial Indifference"/>
                <a:cs typeface="Glacial Indifference"/>
                <a:sym typeface="Glacial Indifference"/>
              </a:rPr>
              <a:t> y al hacer esto pude comprobar que todos los datos del producto se guardaron correctamente.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12</a:t>
              </a:r>
            </a:p>
          </p:txBody>
        </p:sp>
      </p:grpSp>
      <p:sp>
        <p:nvSpPr>
          <p:cNvPr name="Freeform 9" id="9"/>
          <p:cNvSpPr/>
          <p:nvPr/>
        </p:nvSpPr>
        <p:spPr>
          <a:xfrm flipH="false" flipV="false" rot="0">
            <a:off x="2154149" y="1915418"/>
            <a:ext cx="13979701" cy="7863582"/>
          </a:xfrm>
          <a:custGeom>
            <a:avLst/>
            <a:gdLst/>
            <a:ahLst/>
            <a:cxnLst/>
            <a:rect r="r" b="b" t="t" l="l"/>
            <a:pathLst>
              <a:path h="7863582" w="13979701">
                <a:moveTo>
                  <a:pt x="0" y="0"/>
                </a:moveTo>
                <a:lnTo>
                  <a:pt x="13979702" y="0"/>
                </a:lnTo>
                <a:lnTo>
                  <a:pt x="13979702" y="7863582"/>
                </a:lnTo>
                <a:lnTo>
                  <a:pt x="0" y="7863582"/>
                </a:lnTo>
                <a:lnTo>
                  <a:pt x="0" y="0"/>
                </a:lnTo>
                <a:close/>
              </a:path>
            </a:pathLst>
          </a:custGeom>
          <a:blipFill>
            <a:blip r:embed="rId4"/>
            <a:stretch>
              <a:fillRect l="0" t="0" r="0" b="0"/>
            </a:stretch>
          </a:blipFill>
        </p:spPr>
      </p:sp>
      <p:sp>
        <p:nvSpPr>
          <p:cNvPr name="TextBox 10" id="10"/>
          <p:cNvSpPr txBox="true"/>
          <p:nvPr/>
        </p:nvSpPr>
        <p:spPr>
          <a:xfrm rot="0">
            <a:off x="1028700" y="62103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Así mismo, al verificar el contenedor de </a:t>
            </a:r>
            <a:r>
              <a:rPr lang="en-US" b="true" sz="2800">
                <a:solidFill>
                  <a:srgbClr val="000000"/>
                </a:solidFill>
                <a:latin typeface="Glacial Indifference Bold"/>
                <a:ea typeface="Glacial Indifference Bold"/>
                <a:cs typeface="Glacial Indifference Bold"/>
                <a:sym typeface="Glacial Indifference Bold"/>
              </a:rPr>
              <a:t>“productos” </a:t>
            </a:r>
            <a:r>
              <a:rPr lang="en-US" sz="2800">
                <a:solidFill>
                  <a:srgbClr val="000000"/>
                </a:solidFill>
                <a:latin typeface="Glacial Indifference"/>
                <a:ea typeface="Glacial Indifference"/>
                <a:cs typeface="Glacial Indifference"/>
                <a:sym typeface="Glacial Indifference"/>
              </a:rPr>
              <a:t>también pude comprobar que la imagen del producto se guardo correctamente.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13</a:t>
              </a:r>
            </a:p>
          </p:txBody>
        </p:sp>
      </p:grpSp>
      <p:sp>
        <p:nvSpPr>
          <p:cNvPr name="TextBox 9" id="9"/>
          <p:cNvSpPr txBox="true"/>
          <p:nvPr/>
        </p:nvSpPr>
        <p:spPr>
          <a:xfrm rot="0">
            <a:off x="1028700" y="1294502"/>
            <a:ext cx="16230600" cy="3930015"/>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Puedo concluir que esta actividad fue de gran importancia ya que a través de las pruebas realizadas pude comprobar que la funcionalidad para publicar productos en mi aplicación web se implementó correctamente.</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Esto se pudo comprobar, ya que al publicar un producto, automáticamente se guardo en la tabla de “Mis productos”, se mostro en el catalogo de productos y se almaceno en Supabase.</a:t>
            </a:r>
          </a:p>
        </p:txBody>
      </p:sp>
      <p:sp>
        <p:nvSpPr>
          <p:cNvPr name="TextBox 10" id="10"/>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CONCLUSION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14</a:t>
              </a:r>
            </a:p>
          </p:txBody>
        </p:sp>
      </p:grpSp>
      <p:sp>
        <p:nvSpPr>
          <p:cNvPr name="TextBox 9" id="9"/>
          <p:cNvSpPr txBox="true"/>
          <p:nvPr/>
        </p:nvSpPr>
        <p:spPr>
          <a:xfrm rot="0">
            <a:off x="1028700" y="1294502"/>
            <a:ext cx="16230600" cy="4762500"/>
          </a:xfrm>
          <a:prstGeom prst="rect">
            <a:avLst/>
          </a:prstGeom>
        </p:spPr>
        <p:txBody>
          <a:bodyPr anchor="t" rtlCol="false" tIns="0" lIns="0" bIns="0" rIns="0">
            <a:spAutoFit/>
          </a:bodyPr>
          <a:lstStyle/>
          <a:p>
            <a:pPr algn="just">
              <a:lnSpc>
                <a:spcPts val="3750"/>
              </a:lnSpc>
            </a:pPr>
            <a:r>
              <a:rPr lang="en-US" sz="3000">
                <a:solidFill>
                  <a:srgbClr val="000000"/>
                </a:solidFill>
                <a:latin typeface="Glacial Indifference"/>
                <a:ea typeface="Glacial Indifference"/>
                <a:cs typeface="Glacial Indifference"/>
                <a:sym typeface="Glacial Indifference"/>
              </a:rPr>
              <a:t>Codea, C. [@carloscodea]. (s/f). ¿Cómo crear formularios DINÁMICOS con ANGULAR? [[Object Object]]. Youtube. Recuperado el 12 de junio de 2026, de https://www.youtube.com/watch?v=s9VlaTWkKzo</a:t>
            </a:r>
          </a:p>
          <a:p>
            <a:pPr algn="just">
              <a:lnSpc>
                <a:spcPts val="3750"/>
              </a:lnSpc>
            </a:pPr>
          </a:p>
          <a:p>
            <a:pPr algn="just">
              <a:lnSpc>
                <a:spcPts val="3750"/>
              </a:lnSpc>
            </a:pPr>
            <a:r>
              <a:rPr lang="en-US" sz="3000">
                <a:solidFill>
                  <a:srgbClr val="000000"/>
                </a:solidFill>
                <a:latin typeface="Glacial Indifference"/>
                <a:ea typeface="Glacial Indifference"/>
                <a:cs typeface="Glacial Indifference"/>
                <a:sym typeface="Glacial Indifference"/>
              </a:rPr>
              <a:t>Escalona, F. [@trilord243]. (s/f). Subir imágenes con supabase [[Object Object]]. Youtube. Recuperado el 12 de junio de 2026, de https://www.youtube.com/watch?v=AYzAzSkod6w</a:t>
            </a:r>
          </a:p>
          <a:p>
            <a:pPr algn="just">
              <a:lnSpc>
                <a:spcPts val="3750"/>
              </a:lnSpc>
            </a:pPr>
          </a:p>
          <a:p>
            <a:pPr algn="just">
              <a:lnSpc>
                <a:spcPts val="3750"/>
              </a:lnSpc>
            </a:pPr>
            <a:r>
              <a:rPr lang="en-US" sz="3000">
                <a:solidFill>
                  <a:srgbClr val="000000"/>
                </a:solidFill>
                <a:latin typeface="Glacial Indifference"/>
                <a:ea typeface="Glacial Indifference"/>
                <a:cs typeface="Glacial Indifference"/>
                <a:sym typeface="Glacial Indifference"/>
              </a:rPr>
              <a:t>Español, R. N. en [@ReactNativeEnEspanol]. (s/f). Marketplace App #34. Subir Imagenes con Supabase y Expo [[Object Object]]. Youtube. Recuperado el 12 de junio de 2026, de https://www.youtube.com/watch?v=kRzs7eqcsGo</a:t>
            </a:r>
          </a:p>
        </p:txBody>
      </p:sp>
      <p:sp>
        <p:nvSpPr>
          <p:cNvPr name="TextBox 10" id="10"/>
          <p:cNvSpPr txBox="true"/>
          <p:nvPr/>
        </p:nvSpPr>
        <p:spPr>
          <a:xfrm rot="0">
            <a:off x="3537639" y="266699"/>
            <a:ext cx="11212723" cy="762001"/>
          </a:xfrm>
          <a:prstGeom prst="rect">
            <a:avLst/>
          </a:prstGeom>
        </p:spPr>
        <p:txBody>
          <a:bodyPr anchor="t" rtlCol="false" tIns="0" lIns="0" bIns="0" rIns="0">
            <a:spAutoFit/>
          </a:bodyPr>
          <a:lstStyle/>
          <a:p>
            <a:pPr algn="ctr">
              <a:lnSpc>
                <a:spcPts val="6299"/>
              </a:lnSpc>
            </a:pPr>
            <a:r>
              <a:rPr lang="en-US" b="true" sz="4499" spc="422">
                <a:solidFill>
                  <a:srgbClr val="000000"/>
                </a:solidFill>
                <a:latin typeface="Glacial Indifference Bold"/>
                <a:ea typeface="Glacial Indifference Bold"/>
                <a:cs typeface="Glacial Indifference Bold"/>
                <a:sym typeface="Glacial Indifference Bold"/>
              </a:rPr>
              <a:t>FUENTES DE INFORMACION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2705" y="8941261"/>
            <a:ext cx="2954768" cy="1345739"/>
          </a:xfrm>
          <a:custGeom>
            <a:avLst/>
            <a:gdLst/>
            <a:ahLst/>
            <a:cxnLst/>
            <a:rect r="r" b="b" t="t" l="l"/>
            <a:pathLst>
              <a:path h="1345739" w="2954768">
                <a:moveTo>
                  <a:pt x="2954768" y="0"/>
                </a:moveTo>
                <a:lnTo>
                  <a:pt x="0" y="0"/>
                </a:lnTo>
                <a:lnTo>
                  <a:pt x="0" y="1345739"/>
                </a:lnTo>
                <a:lnTo>
                  <a:pt x="2954768" y="1345739"/>
                </a:lnTo>
                <a:lnTo>
                  <a:pt x="2954768" y="0"/>
                </a:lnTo>
                <a:close/>
              </a:path>
            </a:pathLst>
          </a:custGeom>
          <a:blipFill>
            <a:blip r:embed="rId2">
              <a:extLst>
                <a:ext uri="{96DAC541-7B7A-43D3-8B79-37D633B846F1}">
                  <asvg:svgBlip xmlns:asvg="http://schemas.microsoft.com/office/drawing/2016/SVG/main" r:embed="rId3"/>
                </a:ext>
              </a:extLst>
            </a:blip>
            <a:stretch>
              <a:fillRect l="0" t="-775" r="-70877" b="-152305"/>
            </a:stretch>
          </a:blipFill>
        </p:spPr>
      </p:sp>
      <p:sp>
        <p:nvSpPr>
          <p:cNvPr name="Freeform 3" id="3"/>
          <p:cNvSpPr/>
          <p:nvPr/>
        </p:nvSpPr>
        <p:spPr>
          <a:xfrm flipH="false" flipV="true" rot="0">
            <a:off x="15276221" y="0"/>
            <a:ext cx="3011779" cy="1492869"/>
          </a:xfrm>
          <a:custGeom>
            <a:avLst/>
            <a:gdLst/>
            <a:ahLst/>
            <a:cxnLst/>
            <a:rect r="r" b="b" t="t" l="l"/>
            <a:pathLst>
              <a:path h="1492869" w="3011779">
                <a:moveTo>
                  <a:pt x="0" y="1492869"/>
                </a:moveTo>
                <a:lnTo>
                  <a:pt x="3011779" y="1492869"/>
                </a:lnTo>
                <a:lnTo>
                  <a:pt x="3011779" y="0"/>
                </a:lnTo>
                <a:lnTo>
                  <a:pt x="0" y="0"/>
                </a:lnTo>
                <a:lnTo>
                  <a:pt x="0" y="1492869"/>
                </a:lnTo>
                <a:close/>
              </a:path>
            </a:pathLst>
          </a:custGeom>
          <a:blipFill>
            <a:blip r:embed="rId2">
              <a:extLst>
                <a:ext uri="{96DAC541-7B7A-43D3-8B79-37D633B846F1}">
                  <asvg:svgBlip xmlns:asvg="http://schemas.microsoft.com/office/drawing/2016/SVG/main" r:embed="rId3"/>
                </a:ext>
              </a:extLst>
            </a:blip>
            <a:stretch>
              <a:fillRect l="0" t="0" r="-72767" b="-135111"/>
            </a:stretch>
          </a:blipFill>
        </p:spPr>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305085"/>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15</a:t>
              </a:r>
            </a:p>
          </p:txBody>
        </p:sp>
      </p:grpSp>
      <p:sp>
        <p:nvSpPr>
          <p:cNvPr name="TextBox 9" id="9"/>
          <p:cNvSpPr txBox="true"/>
          <p:nvPr/>
        </p:nvSpPr>
        <p:spPr>
          <a:xfrm rot="0">
            <a:off x="3537639" y="266699"/>
            <a:ext cx="11212723" cy="762001"/>
          </a:xfrm>
          <a:prstGeom prst="rect">
            <a:avLst/>
          </a:prstGeom>
        </p:spPr>
        <p:txBody>
          <a:bodyPr anchor="t" rtlCol="false" tIns="0" lIns="0" bIns="0" rIns="0">
            <a:spAutoFit/>
          </a:bodyPr>
          <a:lstStyle/>
          <a:p>
            <a:pPr algn="ctr">
              <a:lnSpc>
                <a:spcPts val="6299"/>
              </a:lnSpc>
            </a:pPr>
            <a:r>
              <a:rPr lang="en-US" b="true" sz="4499" spc="422">
                <a:solidFill>
                  <a:srgbClr val="000000"/>
                </a:solidFill>
                <a:latin typeface="Glacial Indifference Bold"/>
                <a:ea typeface="Glacial Indifference Bold"/>
                <a:cs typeface="Glacial Indifference Bold"/>
                <a:sym typeface="Glacial Indifference Bold"/>
              </a:rPr>
              <a:t>ANEXOS</a:t>
            </a:r>
          </a:p>
        </p:txBody>
      </p:sp>
      <p:sp>
        <p:nvSpPr>
          <p:cNvPr name="TextBox 10" id="10"/>
          <p:cNvSpPr txBox="true"/>
          <p:nvPr/>
        </p:nvSpPr>
        <p:spPr>
          <a:xfrm rot="0">
            <a:off x="1028700" y="8265795"/>
            <a:ext cx="16230600" cy="1513205"/>
          </a:xfrm>
          <a:prstGeom prst="rect">
            <a:avLst/>
          </a:prstGeom>
        </p:spPr>
        <p:txBody>
          <a:bodyPr anchor="t" rtlCol="false" tIns="0" lIns="0" bIns="0" rIns="0">
            <a:spAutoFit/>
          </a:bodyPr>
          <a:lstStyle/>
          <a:p>
            <a:pPr algn="ctr">
              <a:lnSpc>
                <a:spcPts val="4000"/>
              </a:lnSpc>
            </a:pPr>
            <a:r>
              <a:rPr lang="en-US" sz="3200">
                <a:solidFill>
                  <a:srgbClr val="000000"/>
                </a:solidFill>
                <a:latin typeface="Glacial Indifference"/>
                <a:ea typeface="Glacial Indifference"/>
                <a:cs typeface="Glacial Indifference"/>
                <a:sym typeface="Glacial Indifference"/>
              </a:rPr>
              <a:t>Anexo link de acceso al código de este programa en GitHub:</a:t>
            </a:r>
          </a:p>
          <a:p>
            <a:pPr algn="ctr">
              <a:lnSpc>
                <a:spcPts val="4000"/>
              </a:lnSpc>
            </a:pPr>
          </a:p>
          <a:p>
            <a:pPr algn="ctr">
              <a:lnSpc>
                <a:spcPts val="4000"/>
              </a:lnSpc>
            </a:pPr>
            <a:r>
              <a:rPr lang="en-US" sz="3200">
                <a:solidFill>
                  <a:srgbClr val="000000"/>
                </a:solidFill>
                <a:latin typeface="Glacial Indifference"/>
                <a:ea typeface="Glacial Indifference"/>
                <a:cs typeface="Glacial Indifference"/>
                <a:sym typeface="Glacial Indifference"/>
              </a:rPr>
              <a:t>https://github.com/A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DAHMYzSsCDg</dc:identifier>
  <dcterms:modified xsi:type="dcterms:W3CDTF">2011-08-01T06:04:30Z</dcterms:modified>
  <cp:revision>1</cp:revision>
  <dc:title>Actividad 4.3 Banco de ejercicios_AlanRodríguez_PW_8ISCM</dc:title>
</cp:coreProperties>
</file>